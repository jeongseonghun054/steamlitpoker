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 발표 대본]</a:t>
            </a:r>
          </a:p>
          <a:p>
            <a:r>
              <a:t>"안녕하십니까, SK Planet 데이터 직무 지원자 [지원자 이름]입니다.</a:t>
            </a:r>
          </a:p>
          <a:p>
            <a:r>
              <a:t>저는 오늘 '비정형 iGaming 로그 분석을 통한 플레이어 성향 분류 및 의사결정 시뮬레이터 구축' 프로젝트를 주제로 발표를 진행하겠습니다.</a:t>
            </a:r>
          </a:p>
          <a:p/>
          <a:p>
            <a:r>
              <a:t>본 프로젝트는 게임 시스템이 남긴 정제되지 않은 문자열 로그에서 출발하여, 핵심 지표를 계산하고, 통계 분석과 머신러닝을 적용해 유저의 의사결정을 돕는 웹 플랫폼까지 완성해 낸 End-to-End 데이터 파이프라인 프로젝트입니다. 발표를 시작하겠습니다."</a:t>
            </a:r>
          </a:p>
          <a:p/>
          <a:p>
            <a:r>
              <a:t>[용어 리마인더]</a:t>
            </a:r>
          </a:p>
          <a:p>
            <a:r>
              <a:t>- 비정형 데이터: 컴퓨터가 바로 계산할 수 없는 자유 줄글 형식의 로그 텍스트 파일.</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 발표 대본]</a:t>
            </a:r>
          </a:p>
          <a:p>
            <a:r>
              <a:t>"첫 번째로 프로젝트의 배경과 의사결정 목적에 대해 말씀드리겠습니다.</a:t>
            </a:r>
          </a:p>
          <a:p/>
          <a:p>
            <a:r>
              <a:t>포커나 카지노 같은 베팅 플랫폼 서비스에서 가장 해결해야 할 심각한 문제는 '유저의 이탈, 즉 Churn'입니다. </a:t>
            </a:r>
          </a:p>
          <a:p/>
          <a:p>
            <a:r>
              <a:t>우측 화면의 '핵심 지표 요약 대시보드' 렌더링 화면을 보시면 알 수 있듯이, 저는 플레이어들의 베팅 지표인 VPIP, PFR, AF 지표 마트를 구축하고 다차원 분석을 진행했습니다. 분석 결과, 적극적으로 베팅하지 않고 소심하게 남의 베팅만 콜하고 따라간 'Loose-Passive' 유저 집단이 가장 심각한 수준인 평균 -16,393 칩의 적자를 내며 파산해 이탈한다는 구체적 사실을 밝혀냈습니다.</a:t>
            </a:r>
          </a:p>
          <a:p/>
          <a:p>
            <a:r>
              <a:t>이 데이터를 근거로, 저는 플랫폼 서비스 기획에 대해 매우 구체적인 '의사결정'을 내렸습니다. 단순히 '소심하게 베팅하지 마십시오'라는 글로 된 가이드를 주는 데 그치지 않고, 유저가 직접 마우스로 수치를 조정하며 스스로의 미래 자산 추이를 확인하고 습관을 교정할 수 있는 '실시간 샌드박스 시뮬레이터 기능을 대시보드 플랫폼에 핵심 스펙으로 포함하여 상용 배포하기로 결정'한 것입니다."</a:t>
            </a:r>
          </a:p>
          <a:p/>
          <a:p>
            <a:r>
              <a:t>[용어 리마인더]</a:t>
            </a:r>
          </a:p>
          <a:p>
            <a:r>
              <a:t>- Churn(이탈): 포커 게임에서는 올바른 습관을 가지지 못해 파산하고 아예 앱을 삭제하는 최악의 유저 행동.</a:t>
            </a:r>
          </a:p>
          <a:p>
            <a:r>
              <a:t>- VPIP (자발적 참여율): 본인의 의지로 돈을 걸고 게임에 참여한 게임 판수의 비율.</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 발표 대본]</a:t>
            </a:r>
          </a:p>
          <a:p>
            <a:r>
              <a:t>"두 번째로 활용한 데이터 스펙과 파이프라인 구축 과정에서 제가 수행한 역할입니다.</a:t>
            </a:r>
          </a:p>
          <a:p/>
          <a:p>
            <a:r>
              <a:t>원천 데이터는 140개의 비정형 포커 게임 텍스트 로그 파일입니다. 약 7,993개의 게임 판수와 932명의 플레이어가 남긴 10만 행 이상의 상세 배팅 로그로 구성되어 있었습니다.</a:t>
            </a:r>
          </a:p>
          <a:p/>
          <a:p>
            <a:r>
              <a:t>저는 이 비정형 데이터를 컴퓨터가 계산 가능한 관계형 데이터베이스로 구축하기 위해 세 가지를 직접 설계했습니다.</a:t>
            </a:r>
          </a:p>
          <a:p/>
          <a:p>
            <a:r>
              <a:t>첫째, Python 정규표현식(Regex) 엔진을 자체 설계하여 텍스트 줄글에서 칼같이 필요한 텍스트 정보만 발라내고 오차 없이 파싱하였습니다.</a:t>
            </a:r>
          </a:p>
          <a:p>
            <a:r>
              <a:t>둘째, 우측에 보이는 '플레이어 프로파일링 데이터 마트' 화면을 뒷받침하기 위해 스타 스키마(Star Schema) 모델링을 설계했습니다. 뼈대가 되는 Fact 테이블과 주변 설명 Dimension 테이블을 도출해 DB에 적재했습니다.</a:t>
            </a:r>
          </a:p>
          <a:p>
            <a:r>
              <a:t>셋째, 환경 변수만 변경하면 분석용 SQLite와 상용 PostgreSQL DB로 즉각 적재 경로가 바뀌는 이중 DB 호환 구조를 구현했습니다. 이 데이터 아키텍처 덕분에 쿼리 연산 속도를 크게 높여 대화형 대시보드 구성이 가능해졌습니다."</a:t>
            </a:r>
          </a:p>
          <a:p/>
          <a:p>
            <a:r>
              <a:t>[용어 리마인더]</a:t>
            </a:r>
          </a:p>
          <a:p>
            <a:r>
              <a:t>- 정규표현식 (Regex): 특정 글자 패턴만 정확하게 추출하는 컴퓨터용 필터 규칙.</a:t>
            </a:r>
          </a:p>
          <a:p>
            <a:r>
              <a:t>- 스타 스키마 (Star Schema): 마트 진열처럼 핵심 기록(Fact)을 중심에 두고 주변에 설명 정보(Dimension)를 별 모양처럼 연결해 검색 효율을 높인 것.</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 발표 대본]</a:t>
            </a:r>
          </a:p>
          <a:p>
            <a:r>
              <a:t>"세 번째로 통계적 가설 검정과 머신러닝 분석 과정에서의 데이터 기반 의사결정 경험입니다.</a:t>
            </a:r>
          </a:p>
          <a:p/>
          <a:p>
            <a:r>
              <a:t>저는 '좋은 패를 들었을 때 소극적으로 콜만 하고 들어가는 유저보다, 먼저 판돈을 올리며(Raise) 적극적으로 선제공격하는 유저가 진짜 돈을 잘 벌 것인가'를 확인하고자 독립표본 T-검정을 설계했습니다. 우측의 'A/B 테스트 가설 검정' 화면을 보시면 그 결과가 나타나 있습니다.</a:t>
            </a:r>
          </a:p>
          <a:p>
            <a:r>
              <a:t>검정 결과 p-value가 0.6372로 나와 통계적으로 유의미한 차이가 없음으로 가설이 기각되었습니다.</a:t>
            </a:r>
          </a:p>
          <a:p/>
          <a:p>
            <a:r>
              <a:t>여기서 저의 중요한 분석적 의사결정이 발생했습니다. 단순히 통계 수치만 믿고 '두 전략은 차이가 없습니다'라고 플랫폼 유저에게 알렸다면 그것은 잘못된 행동 가이드였을 것입니다. 저는 심층 분석을 진행해, 대조군인 콜 진입 그룹의 표본 수가 극도로 작아 통계적 검정의 오류 가능성이 매우 높음을 찾아냈습니다.</a:t>
            </a:r>
          </a:p>
          <a:p>
            <a:r>
              <a:t>이에 따라 저는 '통계적 데이터가 충분히 보완될 때까지 섣부른 비즈니스 판단과 가이드를 유보하고, 성향점수 매칭(PSM)과 부트스트랩 리샘플링 기술을 데이터 가공 엔진에 즉시 주입하도록 설계 프로세스를 보완하는 의사결정'을 내렸습니다.</a:t>
            </a:r>
          </a:p>
          <a:p/>
          <a:p>
            <a:r>
              <a:t>또한, K-Means 군집 분석을 통해 플레이어들을 4대 성향군으로 분류하고, 최종적으로 플레이어의 지표를 넣어 이 플레이어가 흑자일지 적자일지 가려내는 Random Forest 분류 모델을 연동하여 정확도 84% 성능을 획득했습니다."</a:t>
            </a:r>
          </a:p>
          <a:p/>
          <a:p>
            <a:r>
              <a:t>[용어 리마인더]</a:t>
            </a:r>
          </a:p>
          <a:p>
            <a:r>
              <a:t>- T-검정 (A/B Test): 두 그룹의 평균 차이가 진짜 의미 있는 실력 차이인지, 우연인지 검증하는 도구.</a:t>
            </a:r>
          </a:p>
          <a:p>
            <a:r>
              <a:t>- p-value (유의확률): 우연히 그렇게 다를 확률. 0.05 미만이어야 진짜 실력 차이로 인정.</a:t>
            </a:r>
          </a:p>
          <a:p>
            <a:r>
              <a:t>- Random Forest: 스무고개 놀이를 하듯 다수결의 질문 트리를 모아 최종 판단(돈 딸지 잃을지)을 내리는 모델.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 발표 대본]</a:t>
            </a:r>
          </a:p>
          <a:p>
            <a:r>
              <a:t>"네 번째로 분석 결과를 실제 서비스로 전환하여 유저의 의사결정을 도운 부분입니다.</a:t>
            </a:r>
          </a:p>
          <a:p/>
          <a:p>
            <a:r>
              <a:t>데이터 분석 결과인 최적의 플레이 스타일 범위를 유저에게 가르치고 실제로 플레이 습관을 고치게 하려면, 정적인 글보다는 시각적인 모의실험 도구가 필요했습니다.</a:t>
            </a:r>
          </a:p>
          <a:p/>
          <a:p>
            <a:r>
              <a:t>우측에 보이시는 '시나리오 시뮬레이터' 화면이 바로 그것입니다. 이 플랫폼의 샌드박스 플레이그라운드에서 유저가 본인의 VPIP, PFR, AF 슬라이더를 마우스로 자유롭게 조정하면, 머신러닝의 유클리드 거리 공식을 통해 데이터베이스 내 932명의 유저 중 지표상 가장 비슷한 성향을 가진 실제 유저 3명을 매칭합니다.</a:t>
            </a:r>
          </a:p>
          <a:p>
            <a:r>
              <a:t>그리고 그 매칭된 유저 3명이 30세션 동안 게임을 치르면서 누적시킨 칩의 시계열 자산 추이 그래프를 대조하여 즉각 그려줍니다.</a:t>
            </a:r>
          </a:p>
          <a:p/>
          <a:p>
            <a:r>
              <a:t>만약 유저가 돈을 크게 잃고 이탈할 수밖에 없는 Loose-Passive 상태를 설정하면, 화면에는 3인의 유저 자산 그래프가 가파르게 우하향하며 파산하는 모습이 그려집니다. 유저는 이 시뮬레이션을 통해 본인의 잘못된 플레이 전략이 미래 자산에 미칠 충격을 직접 체감하고, 지표를 개선(VPIP 15~22%, AF 2.0~3.5)하여 우상향하는 그래프를 매칭받도록 본인의 전략 의사결정을 수정하게 됩니다."</a:t>
            </a:r>
          </a:p>
          <a:p/>
          <a:p>
            <a:r>
              <a:t>[용어 리마인더]</a:t>
            </a:r>
          </a:p>
          <a:p>
            <a:r>
              <a:t>- 유클리드 거리: 지표 공간 내 두 점 간의 직선거리. 여기선 '나와 가장 성격이 비슷한 3명의 유저'를 찾을 때 쓰는 거리 계산 공식.</a:t>
            </a:r>
          </a:p>
          <a:p>
            <a:r>
              <a:t>- 샌드박스: 가상의 공간에서 안전하게 자유로운 모의실험을 해볼 수 있는 환경.</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6 발표 대본]</a:t>
            </a:r>
          </a:p>
          <a:p>
            <a:r>
              <a:t>"마지막으로 본 프로젝트의 성과와 향후 개선점에 대해 말씀드리겠습니다.</a:t>
            </a:r>
          </a:p>
          <a:p/>
          <a:p>
            <a:r>
              <a:t>분석 과정에서의 대표적인 성과는 첫째, 텍스트 형태의 비정형 로그를 표준 RDBMS 스타 스키마로 적재하여 다차원 글로벌 조회 쿼리 성능을 대폭 향상하고 데이터웨어하우스 기반을 확립한 점입니다. 둘째, 단방향 통계 분석에 그치지 않고 유저의 실질적인 습관 교정과 의사결정을 돕는 인터랙티브 웹 시뮬레이터 플랫폼을 개발하고 완전히 오픈 상용 배포했다는 점입니다.</a:t>
            </a:r>
          </a:p>
          <a:p/>
          <a:p>
            <a:r>
              <a:t>반면, 분석 과정에서의 통계적 한계와 아키텍처 확장성에 대한 개선 방향도 명확히 정의했습니다.</a:t>
            </a:r>
          </a:p>
          <a:p/>
          <a:p>
            <a:r>
              <a:t>첫째, A/B 테스트에서 대조군의 모수가 적어 기각된 문제는 향후 성향점수 매칭(PSM) 기법과 부트스트랩 리샘플링 기술을 활용해 표본 편향을 수학적으로 완전히 극복할 계획입니다.</a:t>
            </a:r>
          </a:p>
          <a:p/>
          <a:p>
            <a:r>
              <a:t>둘째, 향후 수천만 건 이상의 트래픽이 몰리는 대형 플랫폼 환경을 감안하면 단일 DBMS 아키텍처는 동시성 락으로 인해 병목이 생길 수 있습니다. 이를 고도화하기 위해 실시간 데이터 수집 큐인 Apache Kafka와 대용량 분산 처리를 위한 Apache Spark를 도입하고, 최종 저장소를 구글 클라우드의 BigQuery 데이터웨어하우스로 마이그레이션하는 빅데이터 파이프라인 로드맵을 수립하고 연구하고 있습니다.</a:t>
            </a:r>
          </a:p>
          <a:p/>
          <a:p>
            <a:r>
              <a:t>데이터의 정제 수집부터 아키텍처 구성, 분석 임팩트 증명 및 최종 웹앱 서비스 배포까지 데이터의 흐름 전체를 주도해 본 경험을 바탕으로, SK Planet에서 실질적인 비즈니스 가치를 만들어 내는 기여자가 되겠습니다. 이상으로 발표를 마치겠습니다. 감사합니다."</a:t>
            </a:r>
          </a:p>
          <a:p/>
          <a:p>
            <a:r>
              <a:t>[용어 리마인더]</a:t>
            </a:r>
          </a:p>
          <a:p>
            <a:r>
              <a:t>- 성향점수 매칭 (PSM): A/B 테스트에서 두 집단의 조건 불균형을 잡기 위해 수학적으로 조건이 비슷한 짝을 찾아 맞춰주는 기법.</a:t>
            </a:r>
          </a:p>
          <a:p>
            <a:r>
              <a:t>- Kafka &amp; Spark: 실시간으로 쏟아지는 수백만 건의 대규모 트래픽 데이터를 처리해 주는 글로벌 표준 데이터 스택.</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731520" y="1645920"/>
            <a:ext cx="137160" cy="347472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554480"/>
            <a:ext cx="10058400" cy="3657600"/>
          </a:xfrm>
          <a:prstGeom prst="rect">
            <a:avLst/>
          </a:prstGeom>
          <a:noFill/>
        </p:spPr>
        <p:txBody>
          <a:bodyPr wrap="square" lIns="0" rIns="0" tIns="0" bIns="0">
            <a:spAutoFit/>
          </a:bodyPr>
          <a:lstStyle/>
          <a:p>
            <a:pPr>
              <a:spcAft>
                <a:spcPts val="2000"/>
              </a:spcAft>
              <a:defRPr sz="1200" b="1">
                <a:solidFill>
                  <a:srgbClr val="14B8A6"/>
                </a:solidFill>
                <a:latin typeface="Arial"/>
              </a:defRPr>
            </a:pPr>
            <a:r>
              <a:t>DATA ANALYTICS &amp; DECISION PORTFOLIO</a:t>
            </a:r>
          </a:p>
          <a:p>
            <a:pPr>
              <a:spcAft>
                <a:spcPts val="1400"/>
              </a:spcAft>
              <a:defRPr sz="4000" b="1">
                <a:solidFill>
                  <a:srgbClr val="FFFFFF"/>
                </a:solidFill>
                <a:latin typeface="Malgun Gothic"/>
              </a:defRPr>
            </a:pPr>
            <a:r>
              <a:t>비정형 iGaming 로그 분석을 통한</a:t>
            </a:r>
            <a:br/>
            <a:r>
              <a:t>플레이어 성향 분류 및 의사결정 시뮬레이터 구축</a:t>
            </a:r>
          </a:p>
          <a:p>
            <a:pPr>
              <a:spcAft>
                <a:spcPts val="4000"/>
              </a:spcAft>
              <a:defRPr sz="1800">
                <a:solidFill>
                  <a:srgbClr val="94A3B8"/>
                </a:solidFill>
                <a:latin typeface="Malgun Gothic"/>
              </a:defRPr>
            </a:pPr>
            <a:r>
              <a:t>비정형 데이터 파이프라인(ETL)부터 통계 분석, 머신러닝, 실시간 대시보드 웹 배포까지</a:t>
            </a:r>
          </a:p>
          <a:p>
            <a:pPr>
              <a:defRPr sz="1300" b="1">
                <a:solidFill>
                  <a:srgbClr val="3B82F6"/>
                </a:solidFill>
                <a:latin typeface="Malgun Gothic"/>
              </a:defRPr>
            </a:pPr>
            <a:r>
              <a:t>SK Planet 데이터 직무 PT 면접 발표자료 (5~10분 분량)</a:t>
            </a:r>
            <a:br/>
            <a:r>
              <a:t>발표자: 지원자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14B8A6"/>
                </a:solidFill>
                <a:latin typeface="Arial"/>
              </a:defRPr>
            </a:pPr>
            <a:r>
              <a:t>BACKGROUND &amp; OBJECTIVES</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FFFFFF"/>
                </a:solidFill>
                <a:latin typeface="Malgun Gothic"/>
              </a:defRPr>
            </a:pPr>
            <a:r>
              <a:t>01. 프로젝트 배경 및 의사결정 목적</a:t>
            </a:r>
          </a:p>
        </p:txBody>
      </p:sp>
      <p:sp>
        <p:nvSpPr>
          <p:cNvPr id="4" name="Rounded Rectangle 3"/>
          <p:cNvSpPr/>
          <p:nvPr/>
        </p:nvSpPr>
        <p:spPr>
          <a:xfrm>
            <a:off x="73152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lIns="0" rIns="0" tIns="0" bIns="0">
            <a:spAutoFit/>
          </a:bodyPr>
          <a:lstStyle/>
          <a:p>
            <a:pPr>
              <a:spcAft>
                <a:spcPts val="1400"/>
              </a:spcAft>
              <a:defRPr sz="1800" b="1">
                <a:solidFill>
                  <a:srgbClr val="14B8A6"/>
                </a:solidFill>
                <a:latin typeface="Malgun Gothic"/>
              </a:defRPr>
            </a:pPr>
            <a:r>
              <a:t>비즈니스 분석 및 의사결정 목적</a:t>
            </a:r>
          </a:p>
          <a:p>
            <a:pPr>
              <a:spcAft>
                <a:spcPts val="800"/>
              </a:spcAft>
              <a:defRPr sz="1300">
                <a:solidFill>
                  <a:srgbClr val="94A3B8"/>
                </a:solidFill>
                <a:latin typeface="Malgun Gothic"/>
              </a:defRPr>
            </a:pPr>
            <a:r>
              <a:t>■ 분석 배경 및 문제 정의</a:t>
            </a:r>
          </a:p>
          <a:p>
            <a:pPr>
              <a:spcAft>
                <a:spcPts val="800"/>
              </a:spcAft>
              <a:defRPr sz="1300">
                <a:solidFill>
                  <a:srgbClr val="94A3B8"/>
                </a:solidFill>
                <a:latin typeface="Malgun Gothic"/>
              </a:defRPr>
            </a:pPr>
            <a:r>
              <a:t>  - iGaming 서비스의 핵심은 유저 파산 및 이탈(Churn) 방어</a:t>
            </a:r>
          </a:p>
          <a:p>
            <a:pPr>
              <a:spcAft>
                <a:spcPts val="800"/>
              </a:spcAft>
              <a:defRPr sz="1300">
                <a:solidFill>
                  <a:srgbClr val="94A3B8"/>
                </a:solidFill>
                <a:latin typeface="Malgun Gothic"/>
              </a:defRPr>
            </a:pPr>
            <a:r>
              <a:t>  - 올바른 플레이 가이드 부재로 인한 급격한 유저 이탈 직면</a:t>
            </a:r>
          </a:p>
          <a:p>
            <a:pPr>
              <a:spcAft>
                <a:spcPts val="800"/>
              </a:spcAft>
              <a:defRPr sz="1300">
                <a:solidFill>
                  <a:srgbClr val="94A3B8"/>
                </a:solidFill>
                <a:latin typeface="Malgun Gothic"/>
              </a:defRPr>
            </a:pPr>
          </a:p>
          <a:p>
            <a:pPr>
              <a:spcAft>
                <a:spcPts val="800"/>
              </a:spcAft>
              <a:defRPr sz="1300">
                <a:solidFill>
                  <a:srgbClr val="94A3B8"/>
                </a:solidFill>
                <a:latin typeface="Malgun Gothic"/>
              </a:defRPr>
            </a:pPr>
            <a:r>
              <a:t>■ 지표 분석 및 발견점 (Insight)</a:t>
            </a:r>
          </a:p>
          <a:p>
            <a:pPr>
              <a:spcAft>
                <a:spcPts val="800"/>
              </a:spcAft>
              <a:defRPr sz="1300">
                <a:solidFill>
                  <a:srgbClr val="94A3B8"/>
                </a:solidFill>
                <a:latin typeface="Malgun Gothic"/>
              </a:defRPr>
            </a:pPr>
            <a:r>
              <a:t>  - VPIP, PFR, AF 지표 마트 구축 및 다차원 현황 분석</a:t>
            </a:r>
          </a:p>
          <a:p>
            <a:pPr>
              <a:spcAft>
                <a:spcPts val="800"/>
              </a:spcAft>
              <a:defRPr sz="1300">
                <a:solidFill>
                  <a:srgbClr val="94A3B8"/>
                </a:solidFill>
                <a:latin typeface="Malgun Gothic"/>
              </a:defRPr>
            </a:pPr>
            <a:r>
              <a:t>  - 수동적 진입 유저(Loose-Passive)가 가장 심각한 칩 손실</a:t>
            </a:r>
          </a:p>
          <a:p>
            <a:pPr>
              <a:spcAft>
                <a:spcPts val="800"/>
              </a:spcAft>
              <a:defRPr sz="1300">
                <a:solidFill>
                  <a:srgbClr val="94A3B8"/>
                </a:solidFill>
                <a:latin typeface="Malgun Gothic"/>
              </a:defRPr>
            </a:pPr>
            <a:r>
              <a:t>    (평균 -16,393 칩스 적자)을 내며 이탈한다는 사실 규명</a:t>
            </a:r>
          </a:p>
          <a:p>
            <a:pPr>
              <a:spcAft>
                <a:spcPts val="800"/>
              </a:spcAft>
              <a:defRPr sz="1300">
                <a:solidFill>
                  <a:srgbClr val="94A3B8"/>
                </a:solidFill>
                <a:latin typeface="Malgun Gothic"/>
              </a:defRPr>
            </a:pPr>
          </a:p>
          <a:p>
            <a:pPr>
              <a:spcAft>
                <a:spcPts val="800"/>
              </a:spcAft>
              <a:defRPr sz="1300" b="1">
                <a:solidFill>
                  <a:srgbClr val="FFFFFF"/>
                </a:solidFill>
                <a:latin typeface="Malgun Gothic"/>
              </a:defRPr>
            </a:pPr>
            <a:r>
              <a:t>■ 데이터 기반 최종 의사결정 (Core Decision)</a:t>
            </a:r>
          </a:p>
          <a:p>
            <a:pPr>
              <a:spcAft>
                <a:spcPts val="800"/>
              </a:spcAft>
              <a:defRPr sz="1300">
                <a:solidFill>
                  <a:srgbClr val="94A3B8"/>
                </a:solidFill>
                <a:latin typeface="Malgun Gothic"/>
              </a:defRPr>
            </a:pPr>
            <a:r>
              <a:t>  - 유저 이탈을 막기 위해 단순히 공식을 나열하는 대신,</a:t>
            </a:r>
          </a:p>
          <a:p>
            <a:pPr>
              <a:spcAft>
                <a:spcPts val="800"/>
              </a:spcAft>
              <a:defRPr sz="1300" b="1">
                <a:solidFill>
                  <a:srgbClr val="FFFFFF"/>
                </a:solidFill>
                <a:latin typeface="Malgun Gothic"/>
              </a:defRPr>
            </a:pPr>
            <a:r>
              <a:t>  - '유저가 본인의 지표를 변경했을 때 미래의 자산 파산 추이를 모의실험해볼 수 있는 실시간 시뮬레이션(Sandbox) 기능을 대시보드 플랫폼에 신설 및 상용 배포하기로 결정'함.</a:t>
            </a:r>
          </a:p>
        </p:txBody>
      </p:sp>
      <p:pic>
        <p:nvPicPr>
          <p:cNvPr id="6" name="Picture 5" descr="tab1_overview_1781002564252.png"/>
          <p:cNvPicPr>
            <a:picLocks noChangeAspect="1"/>
          </p:cNvPicPr>
          <p:nvPr/>
        </p:nvPicPr>
        <p:blipFill>
          <a:blip r:embed="rId2"/>
          <a:stretch>
            <a:fillRect/>
          </a:stretch>
        </p:blipFill>
        <p:spPr>
          <a:xfrm>
            <a:off x="6309360" y="1645920"/>
            <a:ext cx="5120640" cy="3840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14B8A6"/>
                </a:solidFill>
                <a:latin typeface="Arial"/>
              </a:defRPr>
            </a:pPr>
            <a:r>
              <a:t>DATA &amp; ETL PIPELINE</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FFFFFF"/>
                </a:solidFill>
                <a:latin typeface="Malgun Gothic"/>
              </a:defRPr>
            </a:pPr>
            <a:r>
              <a:t>02. 활용 데이터 및 ETL 파이프라인 수립</a:t>
            </a:r>
          </a:p>
        </p:txBody>
      </p:sp>
      <p:sp>
        <p:nvSpPr>
          <p:cNvPr id="4" name="Rounded Rectangle 3"/>
          <p:cNvSpPr/>
          <p:nvPr/>
        </p:nvSpPr>
        <p:spPr>
          <a:xfrm>
            <a:off x="73152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lIns="0" rIns="0" tIns="0" bIns="0">
            <a:spAutoFit/>
          </a:bodyPr>
          <a:lstStyle/>
          <a:p>
            <a:pPr>
              <a:spcAft>
                <a:spcPts val="1400"/>
              </a:spcAft>
              <a:defRPr sz="1800" b="1">
                <a:solidFill>
                  <a:srgbClr val="14B8A6"/>
                </a:solidFill>
                <a:latin typeface="Malgun Gothic"/>
              </a:defRPr>
            </a:pPr>
            <a:r>
              <a:t>비정형 데이터 모델링 및 적재 역할</a:t>
            </a:r>
          </a:p>
          <a:p>
            <a:pPr>
              <a:spcAft>
                <a:spcPts val="800"/>
              </a:spcAft>
              <a:defRPr sz="1300">
                <a:solidFill>
                  <a:srgbClr val="94A3B8"/>
                </a:solidFill>
                <a:latin typeface="Malgun Gothic"/>
              </a:defRPr>
            </a:pPr>
            <a:r>
              <a:t>■ 활용 데이터 (What)</a:t>
            </a:r>
          </a:p>
          <a:p>
            <a:pPr>
              <a:spcAft>
                <a:spcPts val="800"/>
              </a:spcAft>
              <a:defRPr sz="1300">
                <a:solidFill>
                  <a:srgbClr val="94A3B8"/>
                </a:solidFill>
                <a:latin typeface="Malgun Gothic"/>
              </a:defRPr>
            </a:pPr>
            <a:r>
              <a:t>  - 140개 비정형 텍스트 로그 파일 (Hand History)</a:t>
            </a:r>
          </a:p>
          <a:p>
            <a:pPr>
              <a:spcAft>
                <a:spcPts val="800"/>
              </a:spcAft>
              <a:defRPr sz="1300" b="1">
                <a:solidFill>
                  <a:srgbClr val="FFFFFF"/>
                </a:solidFill>
                <a:latin typeface="Malgun Gothic"/>
              </a:defRPr>
            </a:pPr>
            <a:r>
              <a:t>  - 총 7,993개 핸드 (Games), 932명 플레이어 데이터</a:t>
            </a:r>
          </a:p>
          <a:p>
            <a:pPr>
              <a:spcAft>
                <a:spcPts val="800"/>
              </a:spcAft>
              <a:defRPr sz="1300" b="1">
                <a:solidFill>
                  <a:srgbClr val="FFFFFF"/>
                </a:solidFill>
                <a:latin typeface="Malgun Gothic"/>
              </a:defRPr>
            </a:pPr>
            <a:r>
              <a:t>  - 10만 행 이상의 플레이어별 상세 액션 로그 분석</a:t>
            </a:r>
          </a:p>
          <a:p>
            <a:pPr>
              <a:spcAft>
                <a:spcPts val="800"/>
              </a:spcAft>
              <a:defRPr sz="1300">
                <a:solidFill>
                  <a:srgbClr val="94A3B8"/>
                </a:solidFill>
                <a:latin typeface="Malgun Gothic"/>
              </a:defRPr>
            </a:pPr>
          </a:p>
          <a:p>
            <a:pPr>
              <a:spcAft>
                <a:spcPts val="800"/>
              </a:spcAft>
              <a:defRPr sz="1300">
                <a:solidFill>
                  <a:srgbClr val="94A3B8"/>
                </a:solidFill>
                <a:latin typeface="Malgun Gothic"/>
              </a:defRPr>
            </a:pPr>
            <a:r>
              <a:t>■ 본인의 핵심 설계 역할 (How)</a:t>
            </a:r>
          </a:p>
          <a:p>
            <a:pPr>
              <a:spcAft>
                <a:spcPts val="800"/>
              </a:spcAft>
              <a:defRPr sz="1300" b="1">
                <a:solidFill>
                  <a:srgbClr val="FFFFFF"/>
                </a:solidFill>
                <a:latin typeface="Malgun Gothic"/>
              </a:defRPr>
            </a:pPr>
            <a:r>
              <a:t>  - 정규표현식(Regex) 파서 설계: 줄글 형태의 원천 텍스트에서 베팅 금액, 플레이어명, 액션 단계를 필터 오차 없이 파싱</a:t>
            </a:r>
          </a:p>
          <a:p>
            <a:pPr>
              <a:spcAft>
                <a:spcPts val="800"/>
              </a:spcAft>
              <a:defRPr sz="1300" b="1">
                <a:solidFill>
                  <a:srgbClr val="FFFFFF"/>
                </a:solidFill>
                <a:latin typeface="Malgun Gothic"/>
              </a:defRPr>
            </a:pPr>
            <a:r>
              <a:t>  - 스타 스키마(Star Schema) 모델링: DW 설계 표준인 Fact(`hands`, `actions`) 및 Dimension(`players`, `tournaments`) 구조 설계</a:t>
            </a:r>
          </a:p>
          <a:p>
            <a:pPr>
              <a:spcAft>
                <a:spcPts val="800"/>
              </a:spcAft>
              <a:defRPr sz="1300" b="1">
                <a:solidFill>
                  <a:srgbClr val="FFFFFF"/>
                </a:solidFill>
                <a:latin typeface="Malgun Gothic"/>
              </a:defRPr>
            </a:pPr>
            <a:r>
              <a:t>  - 이중 DB 호환성: 가벼운 SQLite 파일 DB와 상용 PostgreSQL DB 간에 환경 변수 1개로 적재 및 조회를 전환하는 호환 레이어 구현</a:t>
            </a:r>
          </a:p>
        </p:txBody>
      </p:sp>
      <p:pic>
        <p:nvPicPr>
          <p:cNvPr id="6" name="Picture 5" descr="tab2_profiling_1781002574421.png"/>
          <p:cNvPicPr>
            <a:picLocks noChangeAspect="1"/>
          </p:cNvPicPr>
          <p:nvPr/>
        </p:nvPicPr>
        <p:blipFill>
          <a:blip r:embed="rId2"/>
          <a:stretch>
            <a:fillRect/>
          </a:stretch>
        </p:blipFill>
        <p:spPr>
          <a:xfrm>
            <a:off x="6309360" y="1645920"/>
            <a:ext cx="5120640" cy="3840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14B8A6"/>
                </a:solidFill>
                <a:latin typeface="Arial"/>
              </a:defRPr>
            </a:pPr>
            <a:r>
              <a:t>STATISTICS &amp; MACHINE LEARNING</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FFFFFF"/>
                </a:solidFill>
                <a:latin typeface="Malgun Gothic"/>
              </a:defRPr>
            </a:pPr>
            <a:r>
              <a:t>03. 통계적 가설 검정 및 의사결정 프로세스</a:t>
            </a:r>
          </a:p>
        </p:txBody>
      </p:sp>
      <p:sp>
        <p:nvSpPr>
          <p:cNvPr id="4" name="Rounded Rectangle 3"/>
          <p:cNvSpPr/>
          <p:nvPr/>
        </p:nvSpPr>
        <p:spPr>
          <a:xfrm>
            <a:off x="73152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lIns="0" rIns="0" tIns="0" bIns="0">
            <a:spAutoFit/>
          </a:bodyPr>
          <a:lstStyle/>
          <a:p>
            <a:pPr>
              <a:spcAft>
                <a:spcPts val="1400"/>
              </a:spcAft>
              <a:defRPr sz="1800" b="1">
                <a:solidFill>
                  <a:srgbClr val="14B8A6"/>
                </a:solidFill>
                <a:latin typeface="Malgun Gothic"/>
              </a:defRPr>
            </a:pPr>
            <a:r>
              <a:t>통계 기반 가설 검정 및 성향 예측 모델</a:t>
            </a:r>
          </a:p>
          <a:p>
            <a:pPr>
              <a:spcAft>
                <a:spcPts val="800"/>
              </a:spcAft>
              <a:defRPr sz="1300">
                <a:solidFill>
                  <a:srgbClr val="94A3B8"/>
                </a:solidFill>
                <a:latin typeface="Malgun Gothic"/>
              </a:defRPr>
            </a:pPr>
            <a:r>
              <a:t>■ 가설 설정 및 A/B 테스트 검정</a:t>
            </a:r>
          </a:p>
          <a:p>
            <a:pPr>
              <a:spcAft>
                <a:spcPts val="800"/>
              </a:spcAft>
              <a:defRPr sz="1300">
                <a:solidFill>
                  <a:srgbClr val="94A3B8"/>
                </a:solidFill>
                <a:latin typeface="Malgun Gothic"/>
              </a:defRPr>
            </a:pPr>
            <a:r>
              <a:t>  - 가설: 프리미엄 패를 쥐었을 때 선공(A)으로 진입한 집단이 단순 콜(B)로만 진입한 집단보다 수익이 유의미하게 높을 것이다.</a:t>
            </a:r>
          </a:p>
          <a:p>
            <a:pPr>
              <a:spcAft>
                <a:spcPts val="800"/>
              </a:spcAft>
              <a:defRPr sz="1300">
                <a:solidFill>
                  <a:srgbClr val="94A3B8"/>
                </a:solidFill>
                <a:latin typeface="Malgun Gothic"/>
              </a:defRPr>
            </a:pPr>
            <a:r>
              <a:t>  - 독립표본 T-검정 수행 -&gt; p-value = 0.6372로 가설 기각.</a:t>
            </a:r>
          </a:p>
          <a:p>
            <a:pPr>
              <a:spcAft>
                <a:spcPts val="800"/>
              </a:spcAft>
              <a:defRPr sz="1300">
                <a:solidFill>
                  <a:srgbClr val="94A3B8"/>
                </a:solidFill>
                <a:latin typeface="Malgun Gothic"/>
              </a:defRPr>
            </a:pPr>
          </a:p>
          <a:p>
            <a:pPr>
              <a:spcAft>
                <a:spcPts val="800"/>
              </a:spcAft>
              <a:defRPr sz="1300" b="1">
                <a:solidFill>
                  <a:srgbClr val="FFFFFF"/>
                </a:solidFill>
                <a:latin typeface="Malgun Gothic"/>
              </a:defRPr>
            </a:pPr>
            <a:r>
              <a:t>■ 데이터 분석 기반의 프로세스 의사결정</a:t>
            </a:r>
          </a:p>
          <a:p>
            <a:pPr>
              <a:spcAft>
                <a:spcPts val="800"/>
              </a:spcAft>
              <a:defRPr sz="1300">
                <a:solidFill>
                  <a:srgbClr val="94A3B8"/>
                </a:solidFill>
                <a:latin typeface="Malgun Gothic"/>
              </a:defRPr>
            </a:pPr>
            <a:r>
              <a:t>  - 분석 결과 기각되었으나 단순히 기각으로 결론짓지 않고,</a:t>
            </a:r>
          </a:p>
          <a:p>
            <a:pPr>
              <a:spcAft>
                <a:spcPts val="800"/>
              </a:spcAft>
              <a:defRPr sz="1300" b="1">
                <a:solidFill>
                  <a:srgbClr val="FFFFFF"/>
                </a:solidFill>
                <a:latin typeface="Malgun Gothic"/>
              </a:defRPr>
            </a:pPr>
            <a:r>
              <a:t>  - '대조군인 콜 진입 집합의 표본 크기가 극히 적어 통계적 검정력이 부족했음을 정밀 진단하여, 유저에게 왜곡된 팩트를 가이드하는 대신 표본 보완책(성향점수 매칭, 부트스트랩)을 분석 엔진에 즉각 주입하기 전까지 비즈니스 판단을 유보하고 분석 방식을 보완하는 결정을 내림'.</a:t>
            </a:r>
          </a:p>
          <a:p>
            <a:pPr>
              <a:spcAft>
                <a:spcPts val="800"/>
              </a:spcAft>
              <a:defRPr sz="1300">
                <a:solidFill>
                  <a:srgbClr val="94A3B8"/>
                </a:solidFill>
                <a:latin typeface="Malgun Gothic"/>
              </a:defRPr>
            </a:pPr>
          </a:p>
          <a:p>
            <a:pPr>
              <a:spcAft>
                <a:spcPts val="800"/>
              </a:spcAft>
              <a:defRPr sz="1300">
                <a:solidFill>
                  <a:srgbClr val="94A3B8"/>
                </a:solidFill>
                <a:latin typeface="Malgun Gothic"/>
              </a:defRPr>
            </a:pPr>
            <a:r>
              <a:t>■ 군집화 및 예측 모델</a:t>
            </a:r>
          </a:p>
          <a:p>
            <a:pPr>
              <a:spcAft>
                <a:spcPts val="800"/>
              </a:spcAft>
              <a:defRPr sz="1300">
                <a:solidFill>
                  <a:srgbClr val="94A3B8"/>
                </a:solidFill>
                <a:latin typeface="Malgun Gothic"/>
              </a:defRPr>
            </a:pPr>
            <a:r>
              <a:t>  - K-Means 알고리즘으로 유저 4대 성향 코호트 자동 분류</a:t>
            </a:r>
          </a:p>
          <a:p>
            <a:pPr>
              <a:spcAft>
                <a:spcPts val="800"/>
              </a:spcAft>
              <a:defRPr sz="1300">
                <a:solidFill>
                  <a:srgbClr val="94A3B8"/>
                </a:solidFill>
                <a:latin typeface="Malgun Gothic"/>
              </a:defRPr>
            </a:pPr>
            <a:r>
              <a:t>  - Random Forest를 연동해 유저 지표 기반 흑자 예측 (Accuracy 84%)</a:t>
            </a:r>
          </a:p>
        </p:txBody>
      </p:sp>
      <p:pic>
        <p:nvPicPr>
          <p:cNvPr id="6" name="Picture 5" descr="tab4_ab_test_1781002593463.png"/>
          <p:cNvPicPr>
            <a:picLocks noChangeAspect="1"/>
          </p:cNvPicPr>
          <p:nvPr/>
        </p:nvPicPr>
        <p:blipFill>
          <a:blip r:embed="rId2"/>
          <a:stretch>
            <a:fillRect/>
          </a:stretch>
        </p:blipFill>
        <p:spPr>
          <a:xfrm>
            <a:off x="6309360" y="1645920"/>
            <a:ext cx="5120640" cy="3840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14B8A6"/>
                </a:solidFill>
                <a:latin typeface="Arial"/>
              </a:defRPr>
            </a:pPr>
            <a:r>
              <a:t>PLATFORM SERVICE &amp; SIMULATOR</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FFFFFF"/>
                </a:solidFill>
                <a:latin typeface="Malgun Gothic"/>
              </a:defRPr>
            </a:pPr>
            <a:r>
              <a:t>04. 분석 결과의 서비스화 및 의사결정 시뮬레이터</a:t>
            </a:r>
          </a:p>
        </p:txBody>
      </p:sp>
      <p:sp>
        <p:nvSpPr>
          <p:cNvPr id="4" name="Rounded Rectangle 3"/>
          <p:cNvSpPr/>
          <p:nvPr/>
        </p:nvSpPr>
        <p:spPr>
          <a:xfrm>
            <a:off x="73152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lIns="0" rIns="0" tIns="0" bIns="0">
            <a:spAutoFit/>
          </a:bodyPr>
          <a:lstStyle/>
          <a:p>
            <a:pPr>
              <a:spcAft>
                <a:spcPts val="1400"/>
              </a:spcAft>
              <a:defRPr sz="1800" b="1">
                <a:solidFill>
                  <a:srgbClr val="14B8A6"/>
                </a:solidFill>
                <a:latin typeface="Malgun Gothic"/>
              </a:defRPr>
            </a:pPr>
            <a:r>
              <a:t>시뮬레이터 구현 및 유저 행동 변화 유도</a:t>
            </a:r>
          </a:p>
          <a:p>
            <a:pPr>
              <a:spcAft>
                <a:spcPts val="800"/>
              </a:spcAft>
              <a:defRPr sz="1300" b="1">
                <a:solidFill>
                  <a:srgbClr val="3B82F6"/>
                </a:solidFill>
                <a:latin typeface="Malgun Gothic"/>
              </a:defRPr>
            </a:pPr>
            <a:r>
              <a:t>■ 의사결정 보조 플랫폼 구현 (Streamlit)</a:t>
            </a:r>
          </a:p>
          <a:p>
            <a:pPr>
              <a:spcAft>
                <a:spcPts val="800"/>
              </a:spcAft>
              <a:defRPr sz="1300">
                <a:solidFill>
                  <a:srgbClr val="94A3B8"/>
                </a:solidFill>
                <a:latin typeface="Malgun Gothic"/>
              </a:defRPr>
            </a:pPr>
            <a:r>
              <a:t>  - Tableau 스타일 다차원 글로벌 필터 연동: 사이드바 필터 변경 즉시 백엔드 SQL 동적 렌더링</a:t>
            </a:r>
          </a:p>
          <a:p>
            <a:pPr>
              <a:spcAft>
                <a:spcPts val="800"/>
              </a:spcAft>
              <a:defRPr sz="1300">
                <a:solidFill>
                  <a:srgbClr val="94A3B8"/>
                </a:solidFill>
                <a:latin typeface="Malgun Gothic"/>
              </a:defRPr>
            </a:pPr>
            <a:r>
              <a:t>  - 실시간 ETL 데모: 유저 파일 업로드 시 정규표현식 파서 및 DB 적재 상황 실시간 애니메이션화</a:t>
            </a:r>
          </a:p>
          <a:p>
            <a:pPr>
              <a:spcAft>
                <a:spcPts val="800"/>
              </a:spcAft>
              <a:defRPr sz="1300">
                <a:solidFill>
                  <a:srgbClr val="94A3B8"/>
                </a:solidFill>
                <a:latin typeface="Malgun Gothic"/>
              </a:defRPr>
            </a:pPr>
          </a:p>
          <a:p>
            <a:pPr>
              <a:spcAft>
                <a:spcPts val="800"/>
              </a:spcAft>
              <a:defRPr sz="1300" b="1">
                <a:solidFill>
                  <a:srgbClr val="FFFFFF"/>
                </a:solidFill>
                <a:latin typeface="Malgun Gothic"/>
              </a:defRPr>
            </a:pPr>
            <a:r>
              <a:t>■ 플레이 스타일 샌드박스 시뮬레이터</a:t>
            </a:r>
          </a:p>
          <a:p>
            <a:pPr>
              <a:spcAft>
                <a:spcPts val="800"/>
              </a:spcAft>
              <a:defRPr sz="1300">
                <a:solidFill>
                  <a:srgbClr val="94A3B8"/>
                </a:solidFill>
                <a:latin typeface="Malgun Gothic"/>
              </a:defRPr>
            </a:pPr>
            <a:r>
              <a:t>  - 유클리드 거리를 사용해 DB 내 932명 중 나와 가장 성격이 비슷한 3명의 실제 유저 자동 추적 매칭</a:t>
            </a:r>
          </a:p>
          <a:p>
            <a:pPr>
              <a:spcAft>
                <a:spcPts val="800"/>
              </a:spcAft>
              <a:defRPr sz="1300" b="1">
                <a:solidFill>
                  <a:srgbClr val="FFFFFF"/>
                </a:solidFill>
                <a:latin typeface="Malgun Gothic"/>
              </a:defRPr>
            </a:pPr>
            <a:r>
              <a:t>  - 의사결정 활용: 유저가 자신의 VPIP, PFR, AF를 조정했을 때 매칭 유저 3인의 30세션 누적 자산 추이 대조 렌더링</a:t>
            </a:r>
          </a:p>
          <a:p>
            <a:pPr>
              <a:spcAft>
                <a:spcPts val="800"/>
              </a:spcAft>
              <a:defRPr sz="1300" b="1">
                <a:solidFill>
                  <a:srgbClr val="FFFFFF"/>
                </a:solidFill>
                <a:latin typeface="Malgun Gothic"/>
              </a:defRPr>
            </a:pPr>
            <a:r>
              <a:t>  - 효과: 유저가 무리한 베팅(Loose-Passive)을 고치지 않으면 몇 판 뒤 파산(이탈)할 확률을 시계열로 직접 모의실험하도록 하여 플레이 전략 개선 유도</a:t>
            </a:r>
          </a:p>
        </p:txBody>
      </p:sp>
      <p:pic>
        <p:nvPicPr>
          <p:cNvPr id="6" name="Picture 5" descr="tab5_simulator_done_1781002631767.png"/>
          <p:cNvPicPr>
            <a:picLocks noChangeAspect="1"/>
          </p:cNvPicPr>
          <p:nvPr/>
        </p:nvPicPr>
        <p:blipFill>
          <a:blip r:embed="rId2"/>
          <a:stretch>
            <a:fillRect/>
          </a:stretch>
        </p:blipFill>
        <p:spPr>
          <a:xfrm>
            <a:off x="6309360" y="1645920"/>
            <a:ext cx="5120640" cy="38404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274320"/>
          </a:xfrm>
          <a:prstGeom prst="rect">
            <a:avLst/>
          </a:prstGeom>
          <a:noFill/>
        </p:spPr>
        <p:txBody>
          <a:bodyPr wrap="square" lIns="0" rIns="0" tIns="0" bIns="0">
            <a:spAutoFit/>
          </a:bodyPr>
          <a:lstStyle/>
          <a:p>
            <a:pPr>
              <a:defRPr sz="1000" b="1">
                <a:solidFill>
                  <a:srgbClr val="14B8A6"/>
                </a:solidFill>
                <a:latin typeface="Arial"/>
              </a:defRPr>
            </a:pPr>
            <a:r>
              <a:t>SUCCESS &amp; ROADMAP</a:t>
            </a:r>
          </a:p>
        </p:txBody>
      </p:sp>
      <p:sp>
        <p:nvSpPr>
          <p:cNvPr id="3" name="TextBox 2"/>
          <p:cNvSpPr txBox="1"/>
          <p:nvPr/>
        </p:nvSpPr>
        <p:spPr>
          <a:xfrm>
            <a:off x="731520" y="640080"/>
            <a:ext cx="10698480" cy="731520"/>
          </a:xfrm>
          <a:prstGeom prst="rect">
            <a:avLst/>
          </a:prstGeom>
          <a:noFill/>
        </p:spPr>
        <p:txBody>
          <a:bodyPr wrap="square" lIns="0" rIns="0" tIns="0" bIns="0">
            <a:spAutoFit/>
          </a:bodyPr>
          <a:lstStyle/>
          <a:p>
            <a:pPr>
              <a:defRPr sz="2800" b="1">
                <a:solidFill>
                  <a:srgbClr val="FFFFFF"/>
                </a:solidFill>
                <a:latin typeface="Malgun Gothic"/>
              </a:defRPr>
            </a:pPr>
            <a:r>
              <a:t>05. 성과 및 향후 고도화 로드맵</a:t>
            </a:r>
          </a:p>
        </p:txBody>
      </p:sp>
      <p:sp>
        <p:nvSpPr>
          <p:cNvPr id="4" name="Rounded Rectangle 3"/>
          <p:cNvSpPr/>
          <p:nvPr/>
        </p:nvSpPr>
        <p:spPr>
          <a:xfrm>
            <a:off x="731520" y="1645920"/>
            <a:ext cx="5120640" cy="4389120"/>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lIns="0" rIns="0" tIns="0" bIns="0">
            <a:spAutoFit/>
          </a:bodyPr>
          <a:lstStyle/>
          <a:p>
            <a:pPr>
              <a:spcAft>
                <a:spcPts val="1400"/>
              </a:spcAft>
              <a:defRPr sz="1800" b="1">
                <a:solidFill>
                  <a:srgbClr val="14B8A6"/>
                </a:solidFill>
                <a:latin typeface="Malgun Gothic"/>
              </a:defRPr>
            </a:pPr>
            <a:r>
              <a:t>분석 과정의 성과 및 향후 개선 사항</a:t>
            </a:r>
          </a:p>
          <a:p>
            <a:pPr>
              <a:spcAft>
                <a:spcPts val="800"/>
              </a:spcAft>
              <a:defRPr sz="1300">
                <a:solidFill>
                  <a:srgbClr val="94A3B8"/>
                </a:solidFill>
                <a:latin typeface="Malgun Gothic"/>
              </a:defRPr>
            </a:pPr>
            <a:r>
              <a:t>■ 분석 과정에서 잘된 점 (Successes)</a:t>
            </a:r>
          </a:p>
          <a:p>
            <a:pPr>
              <a:spcAft>
                <a:spcPts val="800"/>
              </a:spcAft>
              <a:defRPr sz="1300" b="1">
                <a:solidFill>
                  <a:srgbClr val="FFFFFF"/>
                </a:solidFill>
                <a:latin typeface="Malgun Gothic"/>
              </a:defRPr>
            </a:pPr>
            <a:r>
              <a:t>  - 비정형 데이터의 RDBMS 정형화: 자유 텍스트 로그를 Fact/Dimension 스타 스키마로 설계하여 다차원 글로벌 쿼리 성능 극대화</a:t>
            </a:r>
          </a:p>
          <a:p>
            <a:pPr>
              <a:spcAft>
                <a:spcPts val="800"/>
              </a:spcAft>
              <a:defRPr sz="1300" b="1">
                <a:solidFill>
                  <a:srgbClr val="FFFFFF"/>
                </a:solidFill>
                <a:latin typeface="Malgun Gothic"/>
              </a:defRPr>
            </a:pPr>
            <a:r>
              <a:t>  - 분석의 서비스화(MaaS) 성공: 단방향 수치 요약 보고서에 그치지 않고 인터랙티브 시뮬레이션 웹서비스로 상용 배포하여 데이터 활용성 극대화</a:t>
            </a:r>
          </a:p>
          <a:p>
            <a:pPr>
              <a:spcAft>
                <a:spcPts val="800"/>
              </a:spcAft>
              <a:defRPr sz="1300">
                <a:solidFill>
                  <a:srgbClr val="94A3B8"/>
                </a:solidFill>
                <a:latin typeface="Malgun Gothic"/>
              </a:defRPr>
            </a:pPr>
          </a:p>
          <a:p>
            <a:pPr>
              <a:spcAft>
                <a:spcPts val="800"/>
              </a:spcAft>
              <a:defRPr sz="1300">
                <a:solidFill>
                  <a:srgbClr val="94A3B8"/>
                </a:solidFill>
                <a:latin typeface="Malgun Gothic"/>
              </a:defRPr>
            </a:pPr>
            <a:r>
              <a:t>■ 개선이 필요한 점 및 향후 계획 (Roadmap)</a:t>
            </a:r>
          </a:p>
          <a:p>
            <a:pPr>
              <a:spcAft>
                <a:spcPts val="800"/>
              </a:spcAft>
              <a:defRPr sz="1300" b="1">
                <a:solidFill>
                  <a:srgbClr val="FFFFFF"/>
                </a:solidFill>
                <a:latin typeface="Malgun Gothic"/>
              </a:defRPr>
            </a:pPr>
            <a:r>
              <a:t>  - 통계적 신뢰도 보완: T-Test의 대조군 표본 부족 현상 해결을 위해 성향점수 매칭(PSM) 및 부트스트랩 리샘플링 적용 추진</a:t>
            </a:r>
          </a:p>
          <a:p>
            <a:pPr>
              <a:spcAft>
                <a:spcPts val="800"/>
              </a:spcAft>
              <a:defRPr sz="1300" b="1">
                <a:solidFill>
                  <a:srgbClr val="FFFFFF"/>
                </a:solidFill>
                <a:latin typeface="Malgun Gothic"/>
              </a:defRPr>
            </a:pPr>
            <a:r>
              <a:t>  - 아키텍처 확장: 단일 RDBMS 동시성 병목 우려 대응을 위한 실시간 Apache Kafka 큐, Apache Spark 분산 엔진 도입 및 GCP BigQuery 클라우드 DW 마이그레이션 로드맵 수립</a:t>
            </a:r>
          </a:p>
        </p:txBody>
      </p:sp>
      <p:pic>
        <p:nvPicPr>
          <p:cNvPr id="6" name="Picture 5" descr="tab3_funnel_cohort_1781002583397.png"/>
          <p:cNvPicPr>
            <a:picLocks noChangeAspect="1"/>
          </p:cNvPicPr>
          <p:nvPr/>
        </p:nvPicPr>
        <p:blipFill>
          <a:blip r:embed="rId2"/>
          <a:stretch>
            <a:fillRect/>
          </a:stretch>
        </p:blipFill>
        <p:spPr>
          <a:xfrm>
            <a:off x="6309360" y="1645920"/>
            <a:ext cx="5120640" cy="3840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